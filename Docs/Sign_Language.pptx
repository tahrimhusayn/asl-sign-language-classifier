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256" r:id="rId2"/>
    <p:sldId id="258" r:id="rId3"/>
    <p:sldId id="260" r:id="rId4"/>
    <p:sldId id="261" r:id="rId5"/>
    <p:sldId id="276" r:id="rId6"/>
    <p:sldId id="262" r:id="rId7"/>
    <p:sldId id="263" r:id="rId8"/>
    <p:sldId id="264" r:id="rId9"/>
    <p:sldId id="265" r:id="rId10"/>
    <p:sldId id="266" r:id="rId11"/>
    <p:sldId id="274" r:id="rId12"/>
    <p:sldId id="275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EC1B9-3AA0-4D81-46A0-0A8085433D00}" v="8" dt="2026-06-06T09:33:09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2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7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3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6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1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6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4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0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0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895" r:id="rId6"/>
    <p:sldLayoutId id="2147483891" r:id="rId7"/>
    <p:sldLayoutId id="2147483892" r:id="rId8"/>
    <p:sldLayoutId id="2147483893" r:id="rId9"/>
    <p:sldLayoutId id="2147483894" r:id="rId10"/>
    <p:sldLayoutId id="214748389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3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95" name="Top Left">
            <a:extLst>
              <a:ext uri="{FF2B5EF4-FFF2-40B4-BE49-F238E27FC236}">
                <a16:creationId xmlns:a16="http://schemas.microsoft.com/office/drawing/2014/main" id="{FC280B3D-FC68-4DDC-950C-506B5C68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0" y="-3087"/>
            <a:chExt cx="7921775" cy="6887020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EA2AE61-06D9-484D-8DD1-BACA157CCA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0919" y="61392"/>
              <a:ext cx="4450856" cy="6822541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274" y="1582560"/>
              <a:ext cx="4133888" cy="5301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CCB55F8-F950-431F-9B90-688950D9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7D0AA11-2E4E-479C-B953-547285E72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D86C66-EDF0-4ABB-87F4-A2882A2E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931" y="3518322"/>
              <a:ext cx="2880722" cy="3317378"/>
            </a:xfrm>
            <a:custGeom>
              <a:avLst/>
              <a:gdLst>
                <a:gd name="connsiteX0" fmla="*/ 1604296 w 1604295"/>
                <a:gd name="connsiteY0" fmla="*/ 1847472 h 1847472"/>
                <a:gd name="connsiteX1" fmla="*/ 1517809 w 1604295"/>
                <a:gd name="connsiteY1" fmla="*/ 1544292 h 1847472"/>
                <a:gd name="connsiteX2" fmla="*/ 1394841 w 1604295"/>
                <a:gd name="connsiteY2" fmla="*/ 1183771 h 1847472"/>
                <a:gd name="connsiteX3" fmla="*/ 1318355 w 1604295"/>
                <a:gd name="connsiteY3" fmla="*/ 695233 h 1847472"/>
                <a:gd name="connsiteX4" fmla="*/ 1359884 w 1604295"/>
                <a:gd name="connsiteY4" fmla="*/ 397863 h 1847472"/>
                <a:gd name="connsiteX5" fmla="*/ 1359884 w 1604295"/>
                <a:gd name="connsiteY5" fmla="*/ 236700 h 1847472"/>
                <a:gd name="connsiteX6" fmla="*/ 1351598 w 1604295"/>
                <a:gd name="connsiteY6" fmla="*/ 67250 h 1847472"/>
                <a:gd name="connsiteX7" fmla="*/ 1316641 w 1604295"/>
                <a:gd name="connsiteY7" fmla="*/ 10767 h 1847472"/>
                <a:gd name="connsiteX8" fmla="*/ 1195292 w 1604295"/>
                <a:gd name="connsiteY8" fmla="*/ 34008 h 1847472"/>
                <a:gd name="connsiteX9" fmla="*/ 1005745 w 1604295"/>
                <a:gd name="connsiteY9" fmla="*/ 254988 h 1847472"/>
                <a:gd name="connsiteX10" fmla="*/ 763048 w 1604295"/>
                <a:gd name="connsiteY10" fmla="*/ 587315 h 1847472"/>
                <a:gd name="connsiteX11" fmla="*/ 548640 w 1604295"/>
                <a:gd name="connsiteY11" fmla="*/ 861444 h 1847472"/>
                <a:gd name="connsiteX12" fmla="*/ 328803 w 1604295"/>
                <a:gd name="connsiteY12" fmla="*/ 1145480 h 1847472"/>
                <a:gd name="connsiteX13" fmla="*/ 0 w 1604295"/>
                <a:gd name="connsiteY13" fmla="*/ 1607157 h 18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295" h="1847472">
                  <a:moveTo>
                    <a:pt x="1604296" y="1847472"/>
                  </a:moveTo>
                  <a:cubicBezTo>
                    <a:pt x="1573721" y="1753270"/>
                    <a:pt x="1548479" y="1638399"/>
                    <a:pt x="1517809" y="1544292"/>
                  </a:cubicBezTo>
                  <a:cubicBezTo>
                    <a:pt x="1478471" y="1423515"/>
                    <a:pt x="1432846" y="1304929"/>
                    <a:pt x="1394841" y="1183771"/>
                  </a:cubicBezTo>
                  <a:cubicBezTo>
                    <a:pt x="1345025" y="1024893"/>
                    <a:pt x="1305497" y="860778"/>
                    <a:pt x="1318355" y="695233"/>
                  </a:cubicBezTo>
                  <a:cubicBezTo>
                    <a:pt x="1326071" y="595316"/>
                    <a:pt x="1353312" y="497780"/>
                    <a:pt x="1359884" y="397863"/>
                  </a:cubicBezTo>
                  <a:cubicBezTo>
                    <a:pt x="1363409" y="344237"/>
                    <a:pt x="1359503" y="290421"/>
                    <a:pt x="1359884" y="236700"/>
                  </a:cubicBezTo>
                  <a:cubicBezTo>
                    <a:pt x="1360265" y="179740"/>
                    <a:pt x="1366076" y="122114"/>
                    <a:pt x="1351598" y="67250"/>
                  </a:cubicBezTo>
                  <a:cubicBezTo>
                    <a:pt x="1345692" y="44866"/>
                    <a:pt x="1335691" y="23530"/>
                    <a:pt x="1316641" y="10767"/>
                  </a:cubicBezTo>
                  <a:cubicBezTo>
                    <a:pt x="1279874" y="-13998"/>
                    <a:pt x="1233202" y="8290"/>
                    <a:pt x="1195292" y="34008"/>
                  </a:cubicBezTo>
                  <a:cubicBezTo>
                    <a:pt x="1114330" y="89062"/>
                    <a:pt x="1060990" y="173644"/>
                    <a:pt x="1005745" y="254988"/>
                  </a:cubicBezTo>
                  <a:cubicBezTo>
                    <a:pt x="928688" y="368526"/>
                    <a:pt x="847058" y="478825"/>
                    <a:pt x="763048" y="587315"/>
                  </a:cubicBezTo>
                  <a:cubicBezTo>
                    <a:pt x="691991" y="679041"/>
                    <a:pt x="621697" y="771338"/>
                    <a:pt x="548640" y="861444"/>
                  </a:cubicBezTo>
                  <a:cubicBezTo>
                    <a:pt x="425672" y="1012987"/>
                    <a:pt x="453866" y="995747"/>
                    <a:pt x="328803" y="1145480"/>
                  </a:cubicBezTo>
                  <a:cubicBezTo>
                    <a:pt x="294418" y="1186628"/>
                    <a:pt x="21146" y="1558103"/>
                    <a:pt x="0" y="16071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6082B-E695-4987-8C03-332366C6C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69" y="2957679"/>
              <a:ext cx="2196245" cy="3010367"/>
            </a:xfrm>
            <a:custGeom>
              <a:avLst/>
              <a:gdLst>
                <a:gd name="connsiteX0" fmla="*/ 1223105 w 1223105"/>
                <a:gd name="connsiteY0" fmla="*/ 0 h 1676495"/>
                <a:gd name="connsiteX1" fmla="*/ 1000792 w 1223105"/>
                <a:gd name="connsiteY1" fmla="*/ 254794 h 1676495"/>
                <a:gd name="connsiteX2" fmla="*/ 744760 w 1223105"/>
                <a:gd name="connsiteY2" fmla="*/ 651891 h 1676495"/>
                <a:gd name="connsiteX3" fmla="*/ 345758 w 1223105"/>
                <a:gd name="connsiteY3" fmla="*/ 1231773 h 1676495"/>
                <a:gd name="connsiteX4" fmla="*/ 0 w 1223105"/>
                <a:gd name="connsiteY4" fmla="*/ 1676495 h 167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5" h="1676495">
                  <a:moveTo>
                    <a:pt x="1223105" y="0"/>
                  </a:moveTo>
                  <a:cubicBezTo>
                    <a:pt x="1136523" y="72771"/>
                    <a:pt x="1066324" y="162401"/>
                    <a:pt x="1000792" y="254794"/>
                  </a:cubicBezTo>
                  <a:cubicBezTo>
                    <a:pt x="909733" y="383286"/>
                    <a:pt x="827723" y="517970"/>
                    <a:pt x="744760" y="651891"/>
                  </a:cubicBezTo>
                  <a:cubicBezTo>
                    <a:pt x="621030" y="851726"/>
                    <a:pt x="497777" y="1052608"/>
                    <a:pt x="345758" y="1231773"/>
                  </a:cubicBezTo>
                  <a:cubicBezTo>
                    <a:pt x="248888" y="1345978"/>
                    <a:pt x="61722" y="1540764"/>
                    <a:pt x="0" y="16764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61A8835-D9FC-4CAB-AF19-A5513B17B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34043" y="2855696"/>
              <a:ext cx="1200999" cy="3994030"/>
            </a:xfrm>
            <a:custGeom>
              <a:avLst/>
              <a:gdLst>
                <a:gd name="connsiteX0" fmla="*/ 668846 w 668845"/>
                <a:gd name="connsiteY0" fmla="*/ 2224305 h 2224304"/>
                <a:gd name="connsiteX1" fmla="*/ 486918 w 668845"/>
                <a:gd name="connsiteY1" fmla="*/ 1944365 h 2224304"/>
                <a:gd name="connsiteX2" fmla="*/ 376809 w 668845"/>
                <a:gd name="connsiteY2" fmla="*/ 1659663 h 2224304"/>
                <a:gd name="connsiteX3" fmla="*/ 319373 w 668845"/>
                <a:gd name="connsiteY3" fmla="*/ 1425157 h 2224304"/>
                <a:gd name="connsiteX4" fmla="*/ 264319 w 668845"/>
                <a:gd name="connsiteY4" fmla="*/ 1130834 h 2224304"/>
                <a:gd name="connsiteX5" fmla="*/ 278702 w 668845"/>
                <a:gd name="connsiteY5" fmla="*/ 882041 h 2224304"/>
                <a:gd name="connsiteX6" fmla="*/ 302609 w 668845"/>
                <a:gd name="connsiteY6" fmla="*/ 736118 h 2224304"/>
                <a:gd name="connsiteX7" fmla="*/ 360045 w 668845"/>
                <a:gd name="connsiteY7" fmla="*/ 444177 h 2224304"/>
                <a:gd name="connsiteX8" fmla="*/ 386334 w 668845"/>
                <a:gd name="connsiteY8" fmla="*/ 233675 h 2224304"/>
                <a:gd name="connsiteX9" fmla="*/ 0 w 668845"/>
                <a:gd name="connsiteY9" fmla="*/ 56795 h 222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8845" h="2224304">
                  <a:moveTo>
                    <a:pt x="668846" y="2224305"/>
                  </a:moveTo>
                  <a:cubicBezTo>
                    <a:pt x="599218" y="2137151"/>
                    <a:pt x="537210" y="2043996"/>
                    <a:pt x="486918" y="1944365"/>
                  </a:cubicBezTo>
                  <a:cubicBezTo>
                    <a:pt x="441008" y="1853306"/>
                    <a:pt x="404717" y="1757770"/>
                    <a:pt x="376809" y="1659663"/>
                  </a:cubicBezTo>
                  <a:cubicBezTo>
                    <a:pt x="354806" y="1582224"/>
                    <a:pt x="337757" y="1503548"/>
                    <a:pt x="319373" y="1425157"/>
                  </a:cubicBezTo>
                  <a:cubicBezTo>
                    <a:pt x="296418" y="1327811"/>
                    <a:pt x="270510" y="1230657"/>
                    <a:pt x="264319" y="1130834"/>
                  </a:cubicBezTo>
                  <a:cubicBezTo>
                    <a:pt x="259080" y="1047681"/>
                    <a:pt x="266891" y="964528"/>
                    <a:pt x="278702" y="882041"/>
                  </a:cubicBezTo>
                  <a:cubicBezTo>
                    <a:pt x="285655" y="833274"/>
                    <a:pt x="293751" y="784601"/>
                    <a:pt x="302609" y="736118"/>
                  </a:cubicBezTo>
                  <a:cubicBezTo>
                    <a:pt x="320516" y="638582"/>
                    <a:pt x="339471" y="541237"/>
                    <a:pt x="360045" y="444177"/>
                  </a:cubicBezTo>
                  <a:cubicBezTo>
                    <a:pt x="374809" y="374549"/>
                    <a:pt x="389763" y="304541"/>
                    <a:pt x="386334" y="233675"/>
                  </a:cubicBezTo>
                  <a:cubicBezTo>
                    <a:pt x="383191" y="168809"/>
                    <a:pt x="391287" y="-120751"/>
                    <a:pt x="0" y="567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7437" y="5668418"/>
              <a:ext cx="1982111" cy="1181308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25817"/>
              <a:ext cx="2282549" cy="5138883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53524"/>
              <a:ext cx="1650357" cy="4733534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379002"/>
              <a:ext cx="1123546" cy="411627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798206"/>
              <a:ext cx="756945" cy="3350210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247513"/>
              <a:ext cx="515229" cy="2438941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752232"/>
              <a:ext cx="300409" cy="1599679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31253" y="14016"/>
              <a:ext cx="5523537" cy="3012568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7455" y="75587"/>
              <a:ext cx="4681672" cy="2637228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0305" y="31802"/>
              <a:ext cx="3763077" cy="2110194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5" name="Bottom Right">
            <a:extLst>
              <a:ext uri="{FF2B5EF4-FFF2-40B4-BE49-F238E27FC236}">
                <a16:creationId xmlns:a16="http://schemas.microsoft.com/office/drawing/2014/main" id="{88540B56-6256-419C-AC81-7B56D0DD7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B5E9C2F-6749-4023-8E94-45C1C3FC6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17" name="Graphic 157">
              <a:extLst>
                <a:ext uri="{FF2B5EF4-FFF2-40B4-BE49-F238E27FC236}">
                  <a16:creationId xmlns:a16="http://schemas.microsoft.com/office/drawing/2014/main" id="{D87C11F9-4A6E-44BC-BF6C-0468EFD71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2B1B9F72-6727-48A7-A229-1B9E8620C6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112D38F-1CDF-4293-96FC-2190D03954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CF3E4DE9-57D9-4C4C-BE4E-7F081A1B3B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6BB673C9-C994-4CA3-B78E-F65C5F8C61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B6FF51D-0B4A-4C30-AEC8-D66E88C98C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CF516A0-FBBD-4A87-9E93-708625DE5E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F1EDD83-3119-40A9-B093-626EB1B126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A5F46DB-9B25-49AD-BC98-191E88919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b="1"/>
              <a:t>Computer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69354"/>
            <a:ext cx="9144000" cy="12652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cs typeface="Segoe UI"/>
              </a:rPr>
              <a:t>A deep learning approach </a:t>
            </a:r>
            <a:endParaRPr lang="en-US" sz="2200" b="1"/>
          </a:p>
        </p:txBody>
      </p:sp>
      <p:grpSp>
        <p:nvGrpSpPr>
          <p:cNvPr id="127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ED21-0706-25FA-1099-7D5F5D05D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701929"/>
            <a:ext cx="10515600" cy="54530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Project:</a:t>
            </a:r>
            <a:br>
              <a:rPr lang="en-US" sz="4000" dirty="0"/>
            </a:br>
            <a:r>
              <a:rPr lang="en-US" sz="4000" b="1">
                <a:ea typeface="+mj-lt"/>
                <a:cs typeface="+mj-lt"/>
              </a:rPr>
              <a:t>Sign Language Interpreter</a:t>
            </a:r>
          </a:p>
        </p:txBody>
      </p:sp>
    </p:spTree>
    <p:extLst>
      <p:ext uri="{BB962C8B-B14F-4D97-AF65-F5344CB8AC3E}">
        <p14:creationId xmlns:p14="http://schemas.microsoft.com/office/powerpoint/2010/main" val="169150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1D7F9F-A132-5E1F-A44C-C4137FB322D5}"/>
              </a:ext>
            </a:extLst>
          </p:cNvPr>
          <p:cNvSpPr txBox="1"/>
          <p:nvPr/>
        </p:nvSpPr>
        <p:spPr>
          <a:xfrm>
            <a:off x="2533650" y="1460500"/>
            <a:ext cx="7124700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Aptos"/>
                <a:ea typeface="+mn-lt"/>
                <a:cs typeface="+mn-lt"/>
              </a:rPr>
              <a:t>Tools</a:t>
            </a:r>
            <a:r>
              <a:rPr lang="en-US" sz="3600" dirty="0">
                <a:latin typeface="Aptos"/>
                <a:ea typeface="+mn-lt"/>
                <a:cs typeface="+mn-lt"/>
              </a:rPr>
              <a:t>:</a:t>
            </a:r>
            <a:endParaRPr lang="en-US" sz="3600">
              <a:latin typeface="Aptos"/>
              <a:ea typeface="Calibri"/>
              <a:cs typeface="Segoe UI"/>
            </a:endParaRPr>
          </a:p>
          <a:p>
            <a:r>
              <a:rPr lang="en-US" sz="3200" dirty="0">
                <a:latin typeface="Aptos"/>
                <a:ea typeface="+mn-lt"/>
                <a:cs typeface="+mn-lt"/>
              </a:rPr>
              <a:t>Python, OpenCV, TensorFlow, </a:t>
            </a:r>
            <a:r>
              <a:rPr lang="en-US" sz="3200" dirty="0" err="1">
                <a:latin typeface="Aptos"/>
                <a:ea typeface="+mn-lt"/>
                <a:cs typeface="+mn-lt"/>
              </a:rPr>
              <a:t>Keras</a:t>
            </a:r>
          </a:p>
          <a:p>
            <a:endParaRPr lang="en-US" sz="3200" dirty="0">
              <a:latin typeface="Aptos"/>
              <a:ea typeface="+mn-lt"/>
              <a:cs typeface="+mn-lt"/>
            </a:endParaRPr>
          </a:p>
          <a:p>
            <a:br>
              <a:rPr lang="en-US" sz="3200" dirty="0">
                <a:latin typeface="Aptos"/>
                <a:ea typeface="+mn-lt"/>
                <a:cs typeface="+mn-lt"/>
              </a:rPr>
            </a:br>
            <a:r>
              <a:rPr lang="en-US" sz="3600" b="1" dirty="0">
                <a:latin typeface="Aptos"/>
                <a:ea typeface="+mn-lt"/>
                <a:cs typeface="+mn-lt"/>
              </a:rPr>
              <a:t>Objective</a:t>
            </a:r>
            <a:r>
              <a:rPr lang="en-US" sz="3600" dirty="0">
                <a:latin typeface="Aptos"/>
                <a:ea typeface="+mn-lt"/>
                <a:cs typeface="+mn-lt"/>
              </a:rPr>
              <a:t>:</a:t>
            </a:r>
          </a:p>
          <a:p>
            <a:r>
              <a:rPr lang="en-US" sz="3200" dirty="0">
                <a:latin typeface="Aptos"/>
                <a:ea typeface="+mn-lt"/>
                <a:cs typeface="+mn-lt"/>
              </a:rPr>
              <a:t>Recognize ASL gestures using a webcam and deep learning.</a:t>
            </a:r>
            <a:endParaRPr lang="en-US" sz="3200" dirty="0">
              <a:latin typeface="Aptos"/>
              <a:ea typeface="Calibri"/>
              <a:cs typeface="Segoe UI"/>
            </a:endParaRPr>
          </a:p>
          <a:p>
            <a:pPr algn="l"/>
            <a:endParaRPr lang="en-US">
              <a:latin typeface="Calibr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7803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B211-5E41-F47C-9926-2ECC6B49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600" y="384175"/>
            <a:ext cx="6667500" cy="13382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Problem Statement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50CE-C7A9-A08D-0B1B-C5DBB02DE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0600" y="1876425"/>
            <a:ext cx="7302500" cy="41862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Aptos"/>
                <a:ea typeface="+mn-lt"/>
                <a:cs typeface="+mn-lt"/>
              </a:rPr>
              <a:t>Problem:</a:t>
            </a:r>
            <a:br>
              <a:rPr lang="en-US" sz="2400" dirty="0">
                <a:latin typeface="Aptos"/>
                <a:ea typeface="+mn-lt"/>
                <a:cs typeface="+mn-lt"/>
              </a:rPr>
            </a:br>
            <a:r>
              <a:rPr lang="en-US" sz="2400" dirty="0">
                <a:latin typeface="Aptos"/>
                <a:ea typeface="+mn-lt"/>
                <a:cs typeface="+mn-lt"/>
              </a:rPr>
              <a:t> Communication with deaf or hard-of-hearing individuals can be difficult in real-time scenarios. Interpreters are not always available.</a:t>
            </a:r>
            <a:endParaRPr lang="en-US" sz="2400">
              <a:latin typeface="Aptos"/>
            </a:endParaRPr>
          </a:p>
          <a:p>
            <a:pPr>
              <a:buNone/>
            </a:pPr>
            <a:endParaRPr lang="en-US" sz="2400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sz="2400" b="1" dirty="0">
                <a:latin typeface="Aptos"/>
                <a:ea typeface="+mn-lt"/>
                <a:cs typeface="+mn-lt"/>
              </a:rPr>
              <a:t>Solution</a:t>
            </a:r>
            <a:r>
              <a:rPr lang="en-US" sz="2400" dirty="0">
                <a:latin typeface="Aptos"/>
                <a:ea typeface="+mn-lt"/>
                <a:cs typeface="+mn-lt"/>
              </a:rPr>
              <a:t>:</a:t>
            </a:r>
            <a:br>
              <a:rPr lang="en-US" sz="2400" dirty="0">
                <a:latin typeface="Aptos"/>
                <a:ea typeface="+mn-lt"/>
                <a:cs typeface="+mn-lt"/>
              </a:rPr>
            </a:br>
            <a:r>
              <a:rPr lang="en-US" sz="2400" dirty="0">
                <a:latin typeface="Aptos"/>
                <a:ea typeface="+mn-lt"/>
                <a:cs typeface="+mn-lt"/>
              </a:rPr>
              <a:t> Use a CNN-based deep learning model to detect American Sign Language (ASL) gestures via webcam in real-time and convert them to readable text.</a:t>
            </a:r>
            <a:endParaRPr lang="en-US" sz="2400" dirty="0">
              <a:latin typeface="Aptos"/>
            </a:endParaRPr>
          </a:p>
          <a:p>
            <a:pPr marL="0" indent="0">
              <a:buNone/>
            </a:pP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5511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9" name="Top left">
            <a:extLst>
              <a:ext uri="{FF2B5EF4-FFF2-40B4-BE49-F238E27FC236}">
                <a16:creationId xmlns:a16="http://schemas.microsoft.com/office/drawing/2014/main" id="{E4A71F22-0E43-4930-8185-0D8C17363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337B2BE-9368-41E7-B9D3-4F1F971F9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7EDF3EA-3138-4266-8511-D57CECF0A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A12DCF8-5403-4AA2-818F-2DF853DC1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D89B414-72F6-4409-A12B-4F23F1CE0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14BA161-43C1-4B9D-A341-694B88127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211E8CC-9B3E-4E58-821A-069B7C109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29FA542-0294-4239-B976-E5D20656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A9045A3-208C-4023-9F44-D62234135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E4495F-012F-F7C7-1BD1-D0330AA9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175" y="150650"/>
            <a:ext cx="5996619" cy="20658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Import Necessary Libraries </a:t>
            </a:r>
          </a:p>
        </p:txBody>
      </p:sp>
      <p:grpSp>
        <p:nvGrpSpPr>
          <p:cNvPr id="49" name="Cross">
            <a:extLst>
              <a:ext uri="{FF2B5EF4-FFF2-40B4-BE49-F238E27FC236}">
                <a16:creationId xmlns:a16="http://schemas.microsoft.com/office/drawing/2014/main" id="{1EDF0462-C0C2-4E84-A7EA-8EE60CEFF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D5894EA-1641-49CE-AE6E-B9522736A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C6415EB-8C9A-4F1B-A459-64B94A86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097E94-9F5D-89B1-90EA-2D69F8C10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900" y="2230206"/>
            <a:ext cx="9332607" cy="3919694"/>
          </a:xfrm>
          <a:prstGeom prst="rect">
            <a:avLst/>
          </a:prstGeom>
        </p:spPr>
      </p:pic>
      <p:grpSp>
        <p:nvGrpSpPr>
          <p:cNvPr id="53" name="Bottom Right">
            <a:extLst>
              <a:ext uri="{FF2B5EF4-FFF2-40B4-BE49-F238E27FC236}">
                <a16:creationId xmlns:a16="http://schemas.microsoft.com/office/drawing/2014/main" id="{B798A610-8506-4BC1-8108-8E1A31CAB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C72D714-A610-482A-B26E-C679E9535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5" name="Graphic 157">
              <a:extLst>
                <a:ext uri="{FF2B5EF4-FFF2-40B4-BE49-F238E27FC236}">
                  <a16:creationId xmlns:a16="http://schemas.microsoft.com/office/drawing/2014/main" id="{D7EF30A6-8E6C-417A-B645-4EC7F0B38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7D377E0-C3CC-48DC-B73B-09CEEDE395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0E2DF20-A9FD-4B82-8673-1091B4C008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425BAEB-7B00-4394-8302-CF2DEA744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917EE8E-E8BC-42F3-BEE3-2F84E8F64D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8647303-59FF-4A2B-8D6D-FB229E6590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BD597AB-C6D9-437D-BBFE-8007D4ED0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FA09AC9-DA2A-4216-BBFD-96E701FB85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8AD4A98-C6D7-49C8-A31E-29C6DB7C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375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121F-9B0E-E5E3-0066-E6B7BB40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0" y="396875"/>
            <a:ext cx="58928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Dataset Description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486D-6AA2-6C16-2BA7-BE50B331D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400" y="1851025"/>
            <a:ext cx="8737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Source</a:t>
            </a:r>
            <a:r>
              <a:rPr lang="en-US">
                <a:latin typeface="Aptos"/>
                <a:ea typeface="+mn-lt"/>
                <a:cs typeface="+mn-lt"/>
              </a:rPr>
              <a:t>: ASL Alphabet Dataset (from Kaggle or archive)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Classes</a:t>
            </a:r>
            <a:r>
              <a:rPr lang="en-US">
                <a:latin typeface="Aptos"/>
                <a:ea typeface="+mn-lt"/>
                <a:cs typeface="+mn-lt"/>
              </a:rPr>
              <a:t>: 29 (A-Z, 'del', 'space', 'nothing')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Format</a:t>
            </a:r>
            <a:r>
              <a:rPr lang="en-US">
                <a:latin typeface="Aptos"/>
                <a:ea typeface="+mn-lt"/>
                <a:cs typeface="+mn-lt"/>
              </a:rPr>
              <a:t>: Images (.jpg) of hand gestures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Preprocessing</a:t>
            </a:r>
            <a:r>
              <a:rPr lang="en-US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Resized to 64x64 pixels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Normalized pixel values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Max 1000 images per class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9048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412C-B5D0-0FF1-689A-EF6E344B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0" y="758825"/>
            <a:ext cx="5537200" cy="13382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Data Visualization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AB79-E7FC-16E8-94C6-D46AF84AD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0" y="2689225"/>
            <a:ext cx="6731000" cy="20018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venir Next LT Pro"/>
              <a:buChar char="+"/>
            </a:pPr>
            <a:r>
              <a:rPr lang="en-US" dirty="0">
                <a:latin typeface="Aptos"/>
                <a:ea typeface="+mn-lt"/>
                <a:cs typeface="+mn-lt"/>
              </a:rPr>
              <a:t>Sample images of various ASL letters</a:t>
            </a:r>
          </a:p>
          <a:p>
            <a:pPr>
              <a:buFont typeface="Avenir Next LT Pro"/>
              <a:buChar char="+"/>
            </a:pPr>
            <a:r>
              <a:rPr lang="en-US" dirty="0">
                <a:latin typeface="Aptos"/>
                <a:ea typeface="+mn-lt"/>
                <a:cs typeface="+mn-lt"/>
              </a:rPr>
              <a:t>Histogram of image counts per class</a:t>
            </a:r>
          </a:p>
          <a:p>
            <a:pPr>
              <a:buFont typeface="Avenir Next LT Pro"/>
              <a:buChar char="+"/>
            </a:pPr>
            <a:r>
              <a:rPr lang="en-US" b="1" dirty="0">
                <a:latin typeface="Aptos"/>
                <a:ea typeface="+mn-lt"/>
                <a:cs typeface="+mn-lt"/>
              </a:rPr>
              <a:t>Split:</a:t>
            </a:r>
            <a:r>
              <a:rPr lang="en-US" dirty="0">
                <a:latin typeface="Aptos"/>
                <a:ea typeface="+mn-lt"/>
                <a:cs typeface="+mn-lt"/>
              </a:rPr>
              <a:t> 80% training / 20% testing</a:t>
            </a:r>
          </a:p>
          <a:p>
            <a:pPr marL="0" indent="0">
              <a:buNone/>
            </a:pP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0701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F0C4-91E7-F182-9FC2-8E400B04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0" y="536575"/>
            <a:ext cx="5264150" cy="13382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Methodology /</a:t>
            </a:r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Model Architecture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2ACC4-71C5-3965-B28B-D5D86C003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2100" y="2466975"/>
            <a:ext cx="4724400" cy="2624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ptos"/>
                <a:ea typeface="+mn-lt"/>
                <a:cs typeface="+mn-lt"/>
              </a:rPr>
              <a:t>Layers</a:t>
            </a:r>
            <a:r>
              <a:rPr lang="en-US" sz="2400" dirty="0">
                <a:latin typeface="Aptos"/>
                <a:ea typeface="+mn-lt"/>
                <a:cs typeface="+mn-lt"/>
              </a:rPr>
              <a:t>: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Conv2D → BatchNorm → </a:t>
            </a:r>
            <a:r>
              <a:rPr lang="en-US" sz="2400" err="1">
                <a:latin typeface="Aptos"/>
                <a:ea typeface="+mn-lt"/>
                <a:cs typeface="+mn-lt"/>
              </a:rPr>
              <a:t>MaxPooling</a:t>
            </a:r>
            <a:r>
              <a:rPr lang="en-US" sz="2400" dirty="0">
                <a:latin typeface="Aptos"/>
                <a:ea typeface="+mn-lt"/>
                <a:cs typeface="+mn-lt"/>
              </a:rPr>
              <a:t> (×3)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Flatten → Dense → Dropout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Output layer: </a:t>
            </a:r>
            <a:r>
              <a:rPr lang="en-US" sz="2400" err="1">
                <a:latin typeface="Aptos"/>
                <a:ea typeface="+mn-lt"/>
                <a:cs typeface="+mn-lt"/>
              </a:rPr>
              <a:t>Softmax</a:t>
            </a:r>
            <a:r>
              <a:rPr lang="en-US" sz="2400" dirty="0">
                <a:latin typeface="Aptos"/>
                <a:ea typeface="+mn-lt"/>
                <a:cs typeface="+mn-lt"/>
              </a:rPr>
              <a:t> (29 classes)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>
              <a:cs typeface="Segoe U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F5126-79F9-F2C9-8A56-A40345AD7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4650" y="2371725"/>
            <a:ext cx="4489450" cy="27193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Aptos"/>
                <a:ea typeface="+mn-lt"/>
                <a:cs typeface="+mn-lt"/>
              </a:rPr>
              <a:t>Training</a:t>
            </a:r>
            <a:r>
              <a:rPr lang="en-US" sz="2400" dirty="0">
                <a:latin typeface="Aptos"/>
                <a:ea typeface="+mn-lt"/>
                <a:cs typeface="+mn-lt"/>
              </a:rPr>
              <a:t>: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Optimizer: Adam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Loss: Categorical </a:t>
            </a:r>
            <a:r>
              <a:rPr lang="en-US" sz="2400" dirty="0" err="1">
                <a:latin typeface="Aptos"/>
                <a:ea typeface="+mn-lt"/>
                <a:cs typeface="+mn-lt"/>
              </a:rPr>
              <a:t>Crossentropy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Epochs: 15–30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Aptos"/>
                <a:ea typeface="+mn-lt"/>
                <a:cs typeface="+mn-lt"/>
              </a:rPr>
              <a:t>Batch size: 64</a:t>
            </a:r>
            <a:endParaRPr lang="en-US" sz="2400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9C773-EBF7-4C56-D4EB-3CD4232BC517}"/>
              </a:ext>
            </a:extLst>
          </p:cNvPr>
          <p:cNvSpPr txBox="1"/>
          <p:nvPr/>
        </p:nvSpPr>
        <p:spPr>
          <a:xfrm>
            <a:off x="2641600" y="5403850"/>
            <a:ext cx="61214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Aptos"/>
                <a:ea typeface="+mn-lt"/>
                <a:cs typeface="+mn-lt"/>
              </a:rPr>
              <a:t>Augmentation:  </a:t>
            </a:r>
            <a:r>
              <a:rPr lang="en-US" sz="2400" dirty="0">
                <a:latin typeface="Aptos"/>
                <a:ea typeface="+mn-lt"/>
                <a:cs typeface="+mn-lt"/>
              </a:rPr>
              <a:t>Via </a:t>
            </a:r>
            <a:r>
              <a:rPr lang="en-US" sz="2400" dirty="0" err="1">
                <a:latin typeface="Aptos"/>
              </a:rPr>
              <a:t>ImageDataGenerator</a:t>
            </a:r>
            <a:endParaRPr lang="en-US" sz="2400" dirty="0">
              <a:latin typeface="Apto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1484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7AB3-6123-B81A-1A22-DBD7FF86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714375"/>
            <a:ext cx="6502400" cy="131921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Data Preprocessing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A4A6C-6FDC-7631-204D-B46483E73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2384425"/>
            <a:ext cx="7391400" cy="3665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Images resized to 64×64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Normalized pixel values (0–1)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Label encoded → one-hot encoded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Train/test split:</a:t>
            </a:r>
            <a:r>
              <a:rPr lang="en-US" dirty="0">
                <a:latin typeface="Aptos"/>
                <a:ea typeface="+mn-lt"/>
                <a:cs typeface="+mn-lt"/>
              </a:rPr>
              <a:t> 80/20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Used up to 1000 images per class to reduce imbalance</a:t>
            </a:r>
            <a:endParaRPr lang="en-US" dirty="0">
              <a:latin typeface="Apto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5507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72ED-D8C8-F448-A309-FF0CB14A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682625"/>
            <a:ext cx="5600700" cy="1338263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Training Process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E2A3D-7DEB-4FC1-46A6-ABD7CF7C0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700" y="2384425"/>
            <a:ext cx="8966200" cy="3322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Trained for 15 to 30 epochs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Batch size:</a:t>
            </a:r>
            <a:r>
              <a:rPr lang="en-US" dirty="0">
                <a:latin typeface="Aptos"/>
                <a:ea typeface="+mn-lt"/>
                <a:cs typeface="+mn-lt"/>
              </a:rPr>
              <a:t> 64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Optimizer:</a:t>
            </a:r>
            <a:r>
              <a:rPr lang="en-US" dirty="0">
                <a:latin typeface="Aptos"/>
                <a:ea typeface="+mn-lt"/>
                <a:cs typeface="+mn-lt"/>
              </a:rPr>
              <a:t> Adam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b="1" dirty="0">
                <a:latin typeface="Aptos"/>
                <a:ea typeface="+mn-lt"/>
                <a:cs typeface="+mn-lt"/>
              </a:rPr>
              <a:t>Loss function:</a:t>
            </a:r>
            <a:r>
              <a:rPr lang="en-US" dirty="0">
                <a:latin typeface="Aptos"/>
                <a:ea typeface="+mn-lt"/>
                <a:cs typeface="+mn-lt"/>
              </a:rPr>
              <a:t> Categorical </a:t>
            </a:r>
            <a:r>
              <a:rPr lang="en-US" dirty="0" err="1">
                <a:latin typeface="Aptos"/>
                <a:ea typeface="+mn-lt"/>
                <a:cs typeface="+mn-lt"/>
              </a:rPr>
              <a:t>Crossentropy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Validation accuracy measured after each epoch</a:t>
            </a:r>
            <a:endParaRPr lang="en-US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62484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6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9" name="Top left">
            <a:extLst>
              <a:ext uri="{FF2B5EF4-FFF2-40B4-BE49-F238E27FC236}">
                <a16:creationId xmlns:a16="http://schemas.microsoft.com/office/drawing/2014/main" id="{4210BA9D-B4AC-4A1D-B63B-44F10A9A7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AB57F67-BA3E-4168-B776-298ABEE40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A37E474-2AB5-44C2-89C5-00B18BBF0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C7682BD-43A7-412C-9D1C-C253EDF7F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322CA5-5700-49C5-B2F4-5451AEC68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FF4B5E5-C2CB-47A0-BDC9-D9560C77B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C206FD4-2993-45C6-A6D2-945277425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C4F993-F14F-4F25-A6AB-1AD9E2A82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CD13FF4-3251-4983-B074-BD35A9902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B90F96-BD53-A876-ACD7-0475F38E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54" y="744909"/>
            <a:ext cx="3776416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Evaluation Metrics &amp;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53F6-8399-91BB-175B-51738F344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85" y="4074784"/>
            <a:ext cx="3776415" cy="20543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Training vs Validation Accuracy</a:t>
            </a:r>
          </a:p>
        </p:txBody>
      </p:sp>
      <p:grpSp>
        <p:nvGrpSpPr>
          <p:cNvPr id="49" name="Cross">
            <a:extLst>
              <a:ext uri="{FF2B5EF4-FFF2-40B4-BE49-F238E27FC236}">
                <a16:creationId xmlns:a16="http://schemas.microsoft.com/office/drawing/2014/main" id="{80F56037-8334-4400-9C7A-A3BEFA96A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60AD0EB-D554-49C4-9728-C64D6D686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9432895-644F-4E09-97C7-F8DB36AA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Picture 3" descr="A graph with blue lines and white lines&#10;&#10;AI-generated content may be incorrect.">
            <a:extLst>
              <a:ext uri="{FF2B5EF4-FFF2-40B4-BE49-F238E27FC236}">
                <a16:creationId xmlns:a16="http://schemas.microsoft.com/office/drawing/2014/main" id="{B167401C-ABEA-A6FD-738A-AD6FDD79A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57" y="1361659"/>
            <a:ext cx="6402214" cy="4129427"/>
          </a:xfrm>
          <a:prstGeom prst="rect">
            <a:avLst/>
          </a:prstGeom>
        </p:spPr>
      </p:pic>
      <p:grpSp>
        <p:nvGrpSpPr>
          <p:cNvPr id="53" name="Bottom Right">
            <a:extLst>
              <a:ext uri="{FF2B5EF4-FFF2-40B4-BE49-F238E27FC236}">
                <a16:creationId xmlns:a16="http://schemas.microsoft.com/office/drawing/2014/main" id="{6B310A71-665E-47AB-9D80-2D90F7D9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D1AF10-782F-4908-A718-EA87EC717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5" name="Graphic 157">
              <a:extLst>
                <a:ext uri="{FF2B5EF4-FFF2-40B4-BE49-F238E27FC236}">
                  <a16:creationId xmlns:a16="http://schemas.microsoft.com/office/drawing/2014/main" id="{A935357A-B553-44CD-9376-FE1E60575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1A180B9-74EE-45CB-8BC1-41E1C07585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0ED6DBC-425A-4959-8ACF-4263EEF246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B431B70-9FAD-408D-890D-646D484045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E532E75-ACFE-4179-B41D-039B3B768C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C81F463-8260-4AAF-9233-3FE29293CD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D51C233-AAFA-43B0-85ED-E42E8DE5E5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D7BBAB6-5F70-4658-9F1E-4F56C83F04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FADCFE9-3879-4BEB-8C66-8CDE96527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410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5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98" name="Bottom Right">
            <a:extLst>
              <a:ext uri="{FF2B5EF4-FFF2-40B4-BE49-F238E27FC236}">
                <a16:creationId xmlns:a16="http://schemas.microsoft.com/office/drawing/2014/main" id="{5656314A-7360-472A-85B1-0CC7D3C5C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3499FD5-DA9A-40DA-93B7-3903B0FB6A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00" name="Graphic 157">
              <a:extLst>
                <a:ext uri="{FF2B5EF4-FFF2-40B4-BE49-F238E27FC236}">
                  <a16:creationId xmlns:a16="http://schemas.microsoft.com/office/drawing/2014/main" id="{0A52B7C2-CDEF-4E8C-BEC4-F83F5A7E3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FEF0EC5-5A73-49D5-B41D-BE464CB2EC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3A78AC46-8358-46F7-8053-BDB805B2A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3D9EBE72-EB96-46AF-9479-A0B4E2F506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E778FF3A-B709-48E2-977C-350725CE9D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5CEE22A-EC37-49DA-AFBD-BC5C07695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B48EED8-5833-438B-BDC4-5D529230DB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5354540-D1D5-44A1-B33C-E3782C8BE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72143CA-33C4-4A6C-99B9-0EB5F0677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9EBEB8-A553-FBC9-AE9F-B43386AD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930" y="744909"/>
            <a:ext cx="3776416" cy="3155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Evaluation Metrics &amp; Graphs</a:t>
            </a:r>
            <a:endParaRPr lang="en-US" sz="5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533AE-B955-A09F-A92B-E756D78F4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801" y="4074784"/>
            <a:ext cx="3776415" cy="20543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Training vs Validation Loss</a:t>
            </a:r>
          </a:p>
        </p:txBody>
      </p:sp>
      <p:pic>
        <p:nvPicPr>
          <p:cNvPr id="4" name="Picture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B2B87A29-2DFC-C621-B258-6BFC642F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6" y="1409676"/>
            <a:ext cx="6402214" cy="4033394"/>
          </a:xfrm>
          <a:prstGeom prst="rect">
            <a:avLst/>
          </a:prstGeom>
        </p:spPr>
      </p:pic>
      <p:grpSp>
        <p:nvGrpSpPr>
          <p:cNvPr id="110" name="Top left">
            <a:extLst>
              <a:ext uri="{FF2B5EF4-FFF2-40B4-BE49-F238E27FC236}">
                <a16:creationId xmlns:a16="http://schemas.microsoft.com/office/drawing/2014/main" id="{3530084A-AE46-40C3-AEC2-05AE51DBE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EB1988D-D0C1-4769-952F-AFED38C2C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51D1B66-2529-4A19-8440-105458F15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754BAC8-DD8C-4971-9849-97F66DDEE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51C64B0-B7BA-43EF-8165-A989D1EECB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3A9894D-475B-4629-9643-CEB6BEEF5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E5E81DE-AC91-47A7-BCB7-F0C46AE19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82FC6CF-DCC9-469A-B15F-405E32C5B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F1624A4-F120-495F-BCDC-908EAC4C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0" name="Cross">
            <a:extLst>
              <a:ext uri="{FF2B5EF4-FFF2-40B4-BE49-F238E27FC236}">
                <a16:creationId xmlns:a16="http://schemas.microsoft.com/office/drawing/2014/main" id="{7486C3FB-E613-42EE-BB94-C836C3509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45264" y="149792"/>
            <a:ext cx="118872" cy="118872"/>
            <a:chOff x="1175347" y="3733800"/>
            <a:chExt cx="118872" cy="118872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A4D2DB4-ADC6-454F-88D2-920131F2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C9C2CC8-1779-42F6-95C3-C68E02716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162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EEAF-14B9-22AF-C898-F9965A549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50" y="644525"/>
            <a:ext cx="6591300" cy="1744663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Webcam-Based </a:t>
            </a:r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Real-Time Prediction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37E8-70EF-D4DA-7898-1C0363EF8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250" y="2828925"/>
            <a:ext cx="7683500" cy="257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Uses OpenCV to access the webcam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Live bounding box to show hand region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Predicts label with confidence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Displays prediction in real-time on screen</a:t>
            </a:r>
            <a:endParaRPr lang="en-US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3079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6B92-3FBC-251A-69E0-2D76A27A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98475"/>
            <a:ext cx="7518400" cy="1331913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Results &amp;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B66E-CE7B-982C-5111-DA85EBA9E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2270125"/>
            <a:ext cx="8229600" cy="3640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Training Accuracy</a:t>
            </a:r>
            <a:r>
              <a:rPr lang="en-US">
                <a:latin typeface="Aptos"/>
                <a:ea typeface="+mn-lt"/>
                <a:cs typeface="+mn-lt"/>
              </a:rPr>
              <a:t>: 92%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Validation Accuracy</a:t>
            </a:r>
            <a:r>
              <a:rPr lang="en-US">
                <a:latin typeface="Aptos"/>
                <a:ea typeface="+mn-lt"/>
                <a:cs typeface="+mn-lt"/>
              </a:rPr>
              <a:t>: 98%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Model Saved As</a:t>
            </a:r>
            <a:r>
              <a:rPr lang="en-US">
                <a:latin typeface="Aptos"/>
                <a:ea typeface="+mn-lt"/>
                <a:cs typeface="+mn-lt"/>
              </a:rPr>
              <a:t>: </a:t>
            </a:r>
            <a:r>
              <a:rPr lang="en-US">
                <a:latin typeface="Aptos"/>
              </a:rPr>
              <a:t>asl_sign_language_cnn_model.h5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r>
              <a:rPr lang="en-US" b="1">
                <a:latin typeface="Aptos"/>
                <a:ea typeface="+mn-lt"/>
                <a:cs typeface="+mn-lt"/>
              </a:rPr>
              <a:t>Live Webcam Prediction</a:t>
            </a:r>
            <a:r>
              <a:rPr lang="en-US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Real-time bounding box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Predicted class with confidence</a:t>
            </a:r>
            <a:endParaRPr lang="en-US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2473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0D92-2CA2-AD40-CFF6-F95CB207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828675"/>
            <a:ext cx="5715000" cy="13382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Challenges Faced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DB297-FAD7-78C9-0E18-5DF8207EE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2676525"/>
            <a:ext cx="7289800" cy="2370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Some images unreadable or invalid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Slight class imbalance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Model accuracy varied depending on lighting conditions in webcam feed</a:t>
            </a:r>
            <a:endParaRPr lang="en-US" dirty="0">
              <a:latin typeface="Apto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3833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3591-4D3F-B579-18AD-E6B7B43E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0" y="796925"/>
            <a:ext cx="3517900" cy="13255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5D36-6CCA-E2D3-370C-CD657EBFB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2346325"/>
            <a:ext cx="8026400" cy="2751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Successfully built a real-time ASL interpreter using deep learning</a:t>
            </a:r>
            <a:endParaRPr lang="en-US" dirty="0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Recognizes 29 hand gestures with high accuracy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Can be extended for sentence-level recognition and deployed in accessibility tools</a:t>
            </a:r>
            <a:endParaRPr lang="en-US">
              <a:latin typeface="Aptos"/>
              <a:cs typeface="Segoe UI"/>
            </a:endParaRPr>
          </a:p>
          <a:p>
            <a:pPr marL="0" indent="0">
              <a:buNone/>
            </a:pP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4093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F543-3A8E-BD96-063B-73D01564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0" y="949325"/>
            <a:ext cx="4432300" cy="13382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Future Work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D7EB1-1E2F-4D6F-08AB-872C42AEB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0" y="2676525"/>
            <a:ext cx="7645400" cy="25987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Recognize multiple signs (sentence formation)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Add gesture-to-speech conversion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Improve accuracy in real-world scenarios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dirty="0">
                <a:latin typeface="Aptos"/>
                <a:ea typeface="+mn-lt"/>
                <a:cs typeface="+mn-lt"/>
              </a:rPr>
              <a:t>Deploy as a mobile or web app</a:t>
            </a:r>
            <a:endParaRPr lang="en-US" dirty="0">
              <a:latin typeface="Apto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27417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25F6-4441-4133-56DA-0F5C370C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904875"/>
            <a:ext cx="3302000" cy="1338263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References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FDAE-BBD4-7436-5C48-400DA18B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2765425"/>
            <a:ext cx="6057900" cy="2179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ASL Alphabet Dataset on Kaggle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TensorFlow &amp; </a:t>
            </a:r>
            <a:r>
              <a:rPr lang="en-US" err="1">
                <a:latin typeface="Aptos"/>
                <a:ea typeface="+mn-lt"/>
                <a:cs typeface="+mn-lt"/>
              </a:rPr>
              <a:t>Keras</a:t>
            </a:r>
            <a:r>
              <a:rPr lang="en-US">
                <a:latin typeface="Aptos"/>
                <a:ea typeface="+mn-lt"/>
                <a:cs typeface="+mn-lt"/>
              </a:rPr>
              <a:t> documentation</a:t>
            </a:r>
            <a:endParaRPr lang="en-US">
              <a:latin typeface="Aptos"/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OpenCV for computer vision tasks</a:t>
            </a:r>
            <a:endParaRPr lang="en-US">
              <a:latin typeface="Apto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3994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1455-995A-B935-C01B-82B64B29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850" y="2098675"/>
            <a:ext cx="5448300" cy="1338263"/>
          </a:xfrm>
        </p:spPr>
        <p:txBody>
          <a:bodyPr>
            <a:normAutofit/>
          </a:bodyPr>
          <a:lstStyle/>
          <a:p>
            <a:r>
              <a:rPr lang="en-US" sz="6600" b="1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707972567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ExploreVTI</vt:lpstr>
      <vt:lpstr>Computer Vision</vt:lpstr>
      <vt:lpstr>Project: Sign Language Interpreter</vt:lpstr>
      <vt:lpstr>PowerPoint Presentation</vt:lpstr>
      <vt:lpstr>Problem Statement</vt:lpstr>
      <vt:lpstr>Import Necessary Libraries </vt:lpstr>
      <vt:lpstr>Dataset Description</vt:lpstr>
      <vt:lpstr>Data Visualization</vt:lpstr>
      <vt:lpstr>Methodology / Model Architecture</vt:lpstr>
      <vt:lpstr>Data Preprocessing</vt:lpstr>
      <vt:lpstr>Training Process</vt:lpstr>
      <vt:lpstr>Evaluation Metrics &amp; Graphs</vt:lpstr>
      <vt:lpstr>Evaluation Metrics &amp; Graphs</vt:lpstr>
      <vt:lpstr>Webcam-Based  Real-Time Prediction</vt:lpstr>
      <vt:lpstr>Results &amp; Observations</vt:lpstr>
      <vt:lpstr>Challenges Faced</vt:lpstr>
      <vt:lpstr>Conclusion</vt:lpstr>
      <vt:lpstr>Future Work</vt:lpstr>
      <vt:lpstr>References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229</cp:revision>
  <dcterms:created xsi:type="dcterms:W3CDTF">2025-06-11T17:09:00Z</dcterms:created>
  <dcterms:modified xsi:type="dcterms:W3CDTF">2026-06-06T09:33:36Z</dcterms:modified>
</cp:coreProperties>
</file>